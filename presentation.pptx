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ith Njihia" userId="1e99fe23f231bfb1" providerId="LiveId" clId="{3A04604A-EEBB-4A6F-99F6-790ED387411E}"/>
    <pc:docChg chg="custSel modSld">
      <pc:chgData name="Keith Njihia" userId="1e99fe23f231bfb1" providerId="LiveId" clId="{3A04604A-EEBB-4A6F-99F6-790ED387411E}" dt="2026-06-12T16:10:07.546" v="10" actId="27636"/>
      <pc:docMkLst>
        <pc:docMk/>
      </pc:docMkLst>
      <pc:sldChg chg="modSp mod">
        <pc:chgData name="Keith Njihia" userId="1e99fe23f231bfb1" providerId="LiveId" clId="{3A04604A-EEBB-4A6F-99F6-790ED387411E}" dt="2026-06-12T16:10:07.546" v="10" actId="27636"/>
        <pc:sldMkLst>
          <pc:docMk/>
          <pc:sldMk cId="3839852327" sldId="261"/>
        </pc:sldMkLst>
        <pc:spChg chg="mod">
          <ac:chgData name="Keith Njihia" userId="1e99fe23f231bfb1" providerId="LiveId" clId="{3A04604A-EEBB-4A6F-99F6-790ED387411E}" dt="2026-06-12T16:10:07.546" v="10" actId="27636"/>
          <ac:spMkLst>
            <pc:docMk/>
            <pc:sldMk cId="3839852327" sldId="261"/>
            <ac:spMk id="3" creationId="{1BDA4AD8-17F4-D33B-5D75-8BA6E8F6235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145B1-8AD8-DCB4-B504-490945BA3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C1D4A6-AA69-FFB7-00F7-02D45D1389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7DFDD-6F85-F60A-0484-9BF509A8C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0481C-6EAA-A183-710B-9B8E975F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8E9EC-A368-7743-934B-21119AEAF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51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A93A0-7FE4-5B50-77BE-ABFD5D8F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735EB-B5BA-1C22-7CC8-8662817E5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6654A-FB8D-8BD6-D2AE-2063BB17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80209-D464-7AC6-1B29-21FA625E6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E639-5095-D676-A1BD-3558019B2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946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4412C-8224-D483-7481-FAEBC864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7D2FA-6E7A-30AD-B01D-8340447E6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BF589-CF9E-3477-3ADC-3E1176EC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2E030-8798-F814-7611-718B00892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83A37-D9EA-5793-F8BD-456C353F1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10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2EA95-31B2-6AC8-D2E6-72FACA3DB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CCED5-403D-74AD-BBE9-314790565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1800A-A62C-0E54-851D-A40CB1579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98BD3-3889-9440-D372-9EB89D284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752F83-8CB8-643E-0947-408D9CD05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D0DB5-EAB5-4FC0-54DA-84FDF7B16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27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66A76-61C0-CEA8-A6BF-9E5BA34D4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DB96-F1AD-5D24-733C-0E1B0B5EF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08B94-1106-2B3D-114B-ADB197624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EE6C9-7C50-B848-D9BF-79612CF4A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CC6F9E-FAD6-8363-F6A1-0CC54DFCB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D4222-BD81-F6CC-190E-4066B0E12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00E8BD-0073-D9C2-6336-CE580C414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447CCC-F5B4-4292-723D-E5DB113A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99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9BB96-F772-5624-17AF-ABE3FB314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AD0562-EF06-36B3-B566-465BA3BDD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07BB3-0AC4-A789-75CE-7F693260C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BCE64-E820-096B-074F-93B0CAC58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478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1D3897-22C2-AF8E-566D-00406C116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B19B8A-0EA1-472D-4B3D-27677DF2A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C5592-9D5E-1F25-9F29-CD6DCCDC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73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377E7-198B-20CB-6FDB-E53709732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3A28B-9A43-8951-1E22-E2C0C65E2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CF88E-F671-6430-ADB0-3DD3F2314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9D4E2-F77F-161A-3C8B-A3E1EF4FE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152CA1-5204-1E43-D548-35042D88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91C5F-DA2F-E68B-09EB-2E8E8255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78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A97A6-3462-C515-49D1-1F3B921F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18D366-F6D9-45CE-FCCC-ED710449EC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07775-503F-68AE-2B25-F2EBD12D9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BB79D-0B88-1933-350F-0E8273BCF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A6C44-7E5B-101F-11EC-F2868B7A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33BD-001E-D091-CAAE-AB0D8589B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1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20EC-DFEA-3041-9080-547CEF735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22DCD-8FDF-6C27-9806-B024AD50F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1773A-02A3-53D8-27A1-4B092B17B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7D460-23B2-DC89-ED1F-172FBFE20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7A3EA-23EA-4193-E58F-59E9C576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8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7A333F-9F21-381D-45D6-208529CAA5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A70EA-1567-7B13-3A8A-5AECAD6CE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424BA-4F7C-CE7C-B99F-D226293E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8BDF4-2D24-789D-74F7-2DE3ECDC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214E5-D8E5-F0FF-4100-B645965F5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629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C24630-B3D3-6CA4-7F91-81859784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6EB9B-68D5-52D4-20C4-6437D0C06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5A78A-3BB1-6086-CA53-F29ECE48E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E5B011-322E-476B-A982-94BC3A4A318C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1784-0153-EA30-83BB-57C500745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F7E0D-902E-BCAE-949B-92D6B12C6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A111A-B0B7-4F88-A8EA-1F5492C0E8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09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03184A-7FCF-B2E9-E2D3-2E1629F150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49" r="9087" b="12526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1009F2-5BC5-C947-C450-33305F4B8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400" b="1" i="1">
                <a:solidFill>
                  <a:schemeClr val="bg1"/>
                </a:solidFill>
              </a:rPr>
              <a:t>Twitter Sentiment Analysis on Apple and Google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20647C-61BA-596F-E06C-3477454A5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</a:rPr>
              <a:t>By  Alex Njihia</a:t>
            </a:r>
          </a:p>
          <a:p>
            <a:pPr algn="l"/>
            <a:r>
              <a:rPr lang="en-US" sz="2000">
                <a:solidFill>
                  <a:schemeClr val="bg1"/>
                </a:solidFill>
              </a:rPr>
              <a:t>Phase 4 Project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739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C1A0F-7429-B363-AB35-7499BD86F4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91" b="2285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3C313C-8717-C8D9-6F96-E32272B30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en-US" sz="5000" b="1" i="1">
                <a:solidFill>
                  <a:schemeClr val="bg1"/>
                </a:solidFill>
              </a:rPr>
              <a:t>Business Problem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257D9-F780-6617-3FBE-BC04A49BB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 Companies receive thousands of tweets about their products daily</a:t>
            </a:r>
          </a:p>
          <a:p>
            <a:r>
              <a:rPr lang="en-US" sz="2000">
                <a:solidFill>
                  <a:schemeClr val="bg1"/>
                </a:solidFill>
              </a:rPr>
              <a:t> Manually reading and categorizing each tweet is time-consuming </a:t>
            </a:r>
          </a:p>
          <a:p>
            <a:r>
              <a:rPr lang="en-US" sz="2000">
                <a:solidFill>
                  <a:schemeClr val="bg1"/>
                </a:solidFill>
              </a:rPr>
              <a:t>There is a need for an automated system to classify customer sentiment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Goal: Build a machine learning model that automatically classifies tweets as Positive, Negative, or Neutral sentiment</a:t>
            </a:r>
          </a:p>
        </p:txBody>
      </p:sp>
    </p:spTree>
    <p:extLst>
      <p:ext uri="{BB962C8B-B14F-4D97-AF65-F5344CB8AC3E}">
        <p14:creationId xmlns:p14="http://schemas.microsoft.com/office/powerpoint/2010/main" val="3635377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E18B6D-44A0-39DB-6127-E9252C0B80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91" b="228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2E40EA-A0E0-C283-4E9C-C5306CF6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>
                <a:solidFill>
                  <a:srgbClr val="FFFFFF"/>
                </a:solidFill>
              </a:rPr>
              <a:t>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7897B-8C5D-DF80-6814-8424B237B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 9,070 tweets about Apple and Google products</a:t>
            </a:r>
          </a:p>
          <a:p>
            <a:r>
              <a:rPr lang="en-US">
                <a:solidFill>
                  <a:srgbClr val="FFFFFF"/>
                </a:solidFill>
              </a:rPr>
              <a:t> Source: CrowdFlower via data.world</a:t>
            </a:r>
          </a:p>
          <a:p>
            <a:r>
              <a:rPr lang="en-US">
                <a:solidFill>
                  <a:srgbClr val="FFFFFF"/>
                </a:solidFill>
              </a:rPr>
              <a:t>4 sentiment categories:  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    - No emotion toward brand or product (5,375)  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    - Positive emotion (2,970)   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    - Negative emotion (569)  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    - I can't tell (156)</a:t>
            </a:r>
          </a:p>
          <a:p>
            <a:r>
              <a:rPr lang="en-US">
                <a:solidFill>
                  <a:srgbClr val="FFFFFF"/>
                </a:solidFill>
              </a:rPr>
              <a:t>Dataset showed significant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2124615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EAE32C-ED16-4DFD-5E83-0BCF8F5FB3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91" b="228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61B7EE-D2E2-971A-53CF-668FB402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>
                <a:solidFill>
                  <a:srgbClr val="FFFFFF"/>
                </a:solidFill>
              </a:rPr>
              <a:t>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1D88-BCAF-A39A-C2E1-A9FDF7B88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Removed 22 duplicate tweets</a:t>
            </a:r>
          </a:p>
          <a:p>
            <a:r>
              <a:rPr lang="en-US">
                <a:solidFill>
                  <a:srgbClr val="FFFFFF"/>
                </a:solidFill>
              </a:rPr>
              <a:t>Dropped 1 missing tweet</a:t>
            </a:r>
          </a:p>
          <a:p>
            <a:r>
              <a:rPr lang="en-US">
                <a:solidFill>
                  <a:srgbClr val="FFFFFF"/>
                </a:solidFill>
              </a:rPr>
              <a:t>Text cleaning: 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  - Lowercased all text  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  - Removed URLs, mentions (@), punctuation  </a:t>
            </a:r>
          </a:p>
          <a:p>
            <a:pPr marL="0" indent="0">
              <a:buNone/>
            </a:pPr>
            <a:r>
              <a:rPr lang="en-US">
                <a:solidFill>
                  <a:srgbClr val="FFFFFF"/>
                </a:solidFill>
              </a:rPr>
              <a:t>  - Removed special characters</a:t>
            </a:r>
          </a:p>
          <a:p>
            <a:r>
              <a:rPr lang="en-US">
                <a:solidFill>
                  <a:srgbClr val="FFFFFF"/>
                </a:solidFill>
              </a:rPr>
              <a:t>Removed common English stopwords using NLTK</a:t>
            </a:r>
          </a:p>
          <a:p>
            <a:r>
              <a:rPr lang="en-US">
                <a:solidFill>
                  <a:srgbClr val="FFFFFF"/>
                </a:solidFill>
              </a:rPr>
              <a:t>Applied TF-IDF Vectorization (5,000 features)</a:t>
            </a:r>
          </a:p>
        </p:txBody>
      </p:sp>
    </p:spTree>
    <p:extLst>
      <p:ext uri="{BB962C8B-B14F-4D97-AF65-F5344CB8AC3E}">
        <p14:creationId xmlns:p14="http://schemas.microsoft.com/office/powerpoint/2010/main" val="154319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CF89C-702A-A637-E182-339CCA0651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91" b="228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39F5C7-2DD5-65CB-33BB-B027022DE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 i="1">
                <a:solidFill>
                  <a:srgbClr val="FFFFFF"/>
                </a:solidFill>
              </a:rPr>
              <a:t>Models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5DA9-2822-0A75-FD80-A69395755A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17826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Three machine learning models were trained and evaluated:</a:t>
            </a:r>
          </a:p>
          <a:p>
            <a:r>
              <a:rPr lang="en-US" sz="2000" dirty="0">
                <a:solidFill>
                  <a:srgbClr val="FFFFFF"/>
                </a:solidFill>
              </a:rPr>
              <a:t> Model 1: Multinomial Naive Bayes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  - Simple probabilistic classifier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  - Fast and effective for text data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Model 2: Logistic Regression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  - Linear classification model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  - Strong performance on text features</a:t>
            </a:r>
          </a:p>
          <a:p>
            <a:pPr marL="0" indent="0">
              <a:buNone/>
            </a:pPr>
            <a:endParaRPr lang="en-US" sz="2000" dirty="0">
              <a:solidFill>
                <a:srgbClr val="FFFFFF"/>
              </a:solidFill>
            </a:endParaRPr>
          </a:p>
          <a:p>
            <a:r>
              <a:rPr lang="en-US" sz="2000" dirty="0">
                <a:solidFill>
                  <a:srgbClr val="FFFFFF"/>
                </a:solidFill>
              </a:rPr>
              <a:t> Model 3: Random Forest Classifier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  - Ensemble of decision trees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  - Handles complex patterns</a:t>
            </a:r>
          </a:p>
        </p:txBody>
      </p:sp>
    </p:spTree>
    <p:extLst>
      <p:ext uri="{BB962C8B-B14F-4D97-AF65-F5344CB8AC3E}">
        <p14:creationId xmlns:p14="http://schemas.microsoft.com/office/powerpoint/2010/main" val="25503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397734-7D7B-A19A-910F-E0996A15F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i="1" dirty="0">
                <a:solidFill>
                  <a:schemeClr val="bg1"/>
                </a:solidFill>
              </a:rPr>
              <a:t>Results</a:t>
            </a:r>
            <a:r>
              <a:rPr lang="en-US" sz="5400" b="1" i="1" dirty="0"/>
              <a:t> </a:t>
            </a:r>
          </a:p>
        </p:txBody>
      </p:sp>
      <p:sp>
        <p:nvSpPr>
          <p:cNvPr id="3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A4AD8-17F4-D33B-5D75-8BA6E8F62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lnSpcReduction="10000"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 Logistic Regression achieved the best overall performance</a:t>
            </a:r>
          </a:p>
          <a:p>
            <a:r>
              <a:rPr lang="en-US" sz="2000" dirty="0">
                <a:solidFill>
                  <a:schemeClr val="bg1"/>
                </a:solidFill>
              </a:rPr>
              <a:t> All models struggled with minority classes due to class imbalance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Model Comparison:</a:t>
            </a: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Model                  | Accuracy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Naive Bayes            | [67.8%]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Logistic Regression    | [69.3%]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Random Forest          | [67.5%]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Pipeline (LR)  | 69.07%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C95F8-6FB2-115A-B49C-2ACBC65E5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" r="2117" b="-1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52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B05A2-400B-C18F-5AC7-B89F5516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i="1" dirty="0">
                <a:solidFill>
                  <a:schemeClr val="bg1"/>
                </a:solidFill>
              </a:rPr>
              <a:t>Conclusions</a:t>
            </a:r>
          </a:p>
        </p:txBody>
      </p:sp>
      <p:sp>
        <p:nvSpPr>
          <p:cNvPr id="2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E5F63-31CE-CF7D-1B13-2CA4E8087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Three NLP models were successfully built and evaluated</a:t>
            </a:r>
          </a:p>
          <a:p>
            <a:r>
              <a:rPr lang="en-US" sz="2200" dirty="0">
                <a:solidFill>
                  <a:schemeClr val="bg1"/>
                </a:solidFill>
              </a:rPr>
              <a:t>Logistic Regression performed best with 69.3% accuracy</a:t>
            </a:r>
          </a:p>
          <a:p>
            <a:r>
              <a:rPr lang="en-US" sz="2200" dirty="0">
                <a:solidFill>
                  <a:schemeClr val="bg1"/>
                </a:solidFill>
              </a:rPr>
              <a:t> All models showed bias toward the majority class due to class imbalance</a:t>
            </a:r>
          </a:p>
          <a:p>
            <a:r>
              <a:rPr lang="en-US" sz="2200" dirty="0">
                <a:solidFill>
                  <a:schemeClr val="bg1"/>
                </a:solidFill>
              </a:rPr>
              <a:t> NLP-based sentiment analysis is an effective tool for automated social media monitoring at scale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906C4-BD1C-1CF3-3A12-5D2AD3A7A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" r="2117" b="-1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739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E7BFEA-276F-BA7F-3FE6-2ACE58BED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b="1" i="1" dirty="0">
                <a:solidFill>
                  <a:schemeClr val="bg1"/>
                </a:solidFill>
              </a:rPr>
              <a:t>Recommendations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E411-9D37-B148-AD20-E49528DBF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 Use Logistic Regression as the primary sentiment classification model due to its superior performance</a:t>
            </a:r>
          </a:p>
          <a:p>
            <a:r>
              <a:rPr lang="en-US" sz="2200" dirty="0">
                <a:solidFill>
                  <a:schemeClr val="bg1"/>
                </a:solidFill>
              </a:rPr>
              <a:t> Monitor customer sentiment toward Apple and Google products to identify emerging trends</a:t>
            </a:r>
          </a:p>
          <a:p>
            <a:r>
              <a:rPr lang="en-US" sz="2200" dirty="0">
                <a:solidFill>
                  <a:schemeClr val="bg1"/>
                </a:solidFill>
              </a:rPr>
              <a:t> Investigate negative sentiment tweets to better understand customer concerns and areas for improvement</a:t>
            </a:r>
          </a:p>
          <a:p>
            <a:r>
              <a:rPr lang="en-US" sz="2200" dirty="0">
                <a:solidFill>
                  <a:schemeClr val="bg1"/>
                </a:solidFill>
              </a:rPr>
              <a:t> Use sentiment analysis as a decision-support tool for marketing and product teams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FFD587-43BB-3592-044B-2AA454491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" r="2117" b="-12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77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388</Words>
  <Application>Microsoft Office PowerPoint</Application>
  <PresentationFormat>Widescreen</PresentationFormat>
  <Paragraphs>60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Twitter Sentiment Analysis on Apple and Google Products</vt:lpstr>
      <vt:lpstr>Business Problem</vt:lpstr>
      <vt:lpstr>The Data</vt:lpstr>
      <vt:lpstr>Data Preparation</vt:lpstr>
      <vt:lpstr>Models Used</vt:lpstr>
      <vt:lpstr>Results </vt:lpstr>
      <vt:lpstr>Conclusions</vt:lpstr>
      <vt:lpstr>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Keith Njihia</dc:creator>
  <cp:lastModifiedBy>Keith Njihia</cp:lastModifiedBy>
  <cp:revision>2</cp:revision>
  <dcterms:created xsi:type="dcterms:W3CDTF">2026-06-11T20:10:09Z</dcterms:created>
  <dcterms:modified xsi:type="dcterms:W3CDTF">2026-06-12T16:10:27Z</dcterms:modified>
</cp:coreProperties>
</file>