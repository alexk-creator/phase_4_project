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145B1-8AD8-DCB4-B504-490945BA3B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C1D4A6-AA69-FFB7-00F7-02D45D1389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B7DFDD-6F85-F60A-0484-9BF509A8C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E5B011-322E-476B-A982-94BC3A4A318C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A0481C-6EAA-A183-710B-9B8E975FF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C8E9EC-A368-7743-934B-21119AEAF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EA111A-B0B7-4F88-A8EA-1F5492C0E8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6517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A93A0-7FE4-5B50-77BE-ABFD5D8FC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735EB-B5BA-1C22-7CC8-8662817E5C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F6654A-FB8D-8BD6-D2AE-2063BB17AF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E5B011-322E-476B-A982-94BC3A4A318C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C80209-D464-7AC6-1B29-21FA625E6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6BE639-5095-D676-A1BD-3558019B2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EA111A-B0B7-4F88-A8EA-1F5492C0E8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39460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4412C-8224-D483-7481-FAEBC8644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97D2FA-6E7A-30AD-B01D-8340447E6E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EBF589-CF9E-3477-3ADC-3E1176EC5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E5B011-322E-476B-A982-94BC3A4A318C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D2E030-8798-F814-7611-718B00892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B83A37-D9EA-5793-F8BD-456C353F1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EA111A-B0B7-4F88-A8EA-1F5492C0E8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21024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2EA95-31B2-6AC8-D2E6-72FACA3DB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CCED5-403D-74AD-BBE9-3147905657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C1800A-A62C-0E54-851D-A40CB1579C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598BD3-3889-9440-D372-9EB89D2846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E5B011-322E-476B-A982-94BC3A4A318C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752F83-8CB8-643E-0947-408D9CD05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7D0DB5-EAB5-4FC0-54DA-84FDF7B16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EA111A-B0B7-4F88-A8EA-1F5492C0E8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527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66A76-61C0-CEA8-A6BF-9E5BA34D4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81DB96-F1AD-5D24-733C-0E1B0B5EF7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C08B94-1106-2B3D-114B-ADB1976240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EE6C9-7C50-B848-D9BF-79612CF4A0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CC6F9E-FAD6-8363-F6A1-0CC54DFCB4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0D4222-BD81-F6CC-190E-4066B0E12C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E5B011-322E-476B-A982-94BC3A4A318C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000E8BD-0073-D9C2-6336-CE580C414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447CCC-F5B4-4292-723D-E5DB113AA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EA111A-B0B7-4F88-A8EA-1F5492C0E8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3994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9BB96-F772-5624-17AF-ABE3FB314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AD0562-EF06-36B3-B566-465BA3BDD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E5B011-322E-476B-A982-94BC3A4A318C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F07BB3-0AC4-A789-75CE-7F693260C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ABCE64-E820-096B-074F-93B0CAC58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EA111A-B0B7-4F88-A8EA-1F5492C0E8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4789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31D3897-22C2-AF8E-566D-00406C116C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E5B011-322E-476B-A982-94BC3A4A318C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B19B8A-0EA1-472D-4B3D-27677DF2A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AC5592-9D5E-1F25-9F29-CD6DCCDCC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EA111A-B0B7-4F88-A8EA-1F5492C0E8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7337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377E7-198B-20CB-6FDB-E53709732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23A28B-9A43-8951-1E22-E2C0C65E2F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CF88E-F671-6430-ADB0-3DD3F23149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89D4E2-F77F-161A-3C8B-A3E1EF4FEF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E5B011-322E-476B-A982-94BC3A4A318C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152CA1-5204-1E43-D548-35042D888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091C5F-DA2F-E68B-09EB-2E8E82557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EA111A-B0B7-4F88-A8EA-1F5492C0E8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789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A97A6-3462-C515-49D1-1F3B921FE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A18D366-F6D9-45CE-FCCC-ED710449EC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607775-503F-68AE-2B25-F2EBD12D95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5BB79D-0B88-1933-350F-0E8273BCF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E5B011-322E-476B-A982-94BC3A4A318C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4A6C44-7E5B-101F-11EC-F2868B7A8A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5C33BD-001E-D091-CAAE-AB0D8589B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EA111A-B0B7-4F88-A8EA-1F5492C0E8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017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B20EC-DFEA-3041-9080-547CEF735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222DCD-8FDF-6C27-9806-B024AD50F8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21773A-02A3-53D8-27A1-4B092B17B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E5B011-322E-476B-A982-94BC3A4A318C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57D460-23B2-DC89-ED1F-172FBFE20F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B7A3EA-23EA-4193-E58F-59E9C576B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EA111A-B0B7-4F88-A8EA-1F5492C0E8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0811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7A333F-9F21-381D-45D6-208529CAA5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EA70EA-1567-7B13-3A8A-5AECAD6CE9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5424BA-4F7C-CE7C-B99F-D226293E9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E5B011-322E-476B-A982-94BC3A4A318C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88BDF4-2D24-789D-74F7-2DE3ECDCA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14E5-D8E5-F0FF-4100-B645965F5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EA111A-B0B7-4F88-A8EA-1F5492C0E8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6291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C24630-B3D3-6CA4-7F91-818597848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26EB9B-68D5-52D4-20C4-6437D0C06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B5A78A-3BB1-6086-CA53-F29ECE48EA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E5B011-322E-476B-A982-94BC3A4A318C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CE1784-0153-EA30-83BB-57C5007455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3F7E0D-902E-BCAE-949B-92D6B12C65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EA111A-B0B7-4F88-A8EA-1F5492C0E8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0095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03184A-7FCF-B2E9-E2D3-2E1629F150B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549" r="9087" b="12526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1009F2-5BC5-C947-C450-33305F4B8B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4400" b="1" i="1">
                <a:solidFill>
                  <a:schemeClr val="bg1"/>
                </a:solidFill>
              </a:rPr>
              <a:t>Twitter Sentiment Analysis on Apple and Google Products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20647C-61BA-596F-E06C-3477454A57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sz="2000">
                <a:solidFill>
                  <a:schemeClr val="bg1"/>
                </a:solidFill>
              </a:rPr>
              <a:t>By  Alex Njihia</a:t>
            </a:r>
          </a:p>
          <a:p>
            <a:pPr algn="l"/>
            <a:r>
              <a:rPr lang="en-US" sz="2000">
                <a:solidFill>
                  <a:schemeClr val="bg1"/>
                </a:solidFill>
              </a:rPr>
              <a:t>Phase 4 Project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2000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87390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!!Rectangle">
            <a:extLst>
              <a:ext uri="{FF2B5EF4-FFF2-40B4-BE49-F238E27FC236}">
                <a16:creationId xmlns:a16="http://schemas.microsoft.com/office/drawing/2014/main" id="{7C432AFE-B3D2-4BFF-BF8F-96C27AFF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3CC1A0F-7429-B363-AB35-7499BD86F40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891" b="228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23C313C-8717-C8D9-6F96-E32272B30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9" y="941832"/>
            <a:ext cx="10506456" cy="2057400"/>
          </a:xfrm>
        </p:spPr>
        <p:txBody>
          <a:bodyPr anchor="b">
            <a:normAutofit/>
          </a:bodyPr>
          <a:lstStyle/>
          <a:p>
            <a:r>
              <a:rPr lang="en-US" sz="5000" b="1" i="1">
                <a:solidFill>
                  <a:schemeClr val="bg1"/>
                </a:solidFill>
              </a:rPr>
              <a:t>Business Problem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0140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3241202"/>
            <a:ext cx="10506456" cy="1828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A257D9-F780-6617-3FBE-BC04A49BB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3502152"/>
            <a:ext cx="10506456" cy="2670048"/>
          </a:xfrm>
        </p:spPr>
        <p:txBody>
          <a:bodyPr>
            <a:normAutofit/>
          </a:bodyPr>
          <a:lstStyle/>
          <a:p>
            <a:r>
              <a:rPr lang="en-US" sz="2000">
                <a:solidFill>
                  <a:schemeClr val="bg1"/>
                </a:solidFill>
              </a:rPr>
              <a:t> Companies receive thousands of tweets about their products daily</a:t>
            </a:r>
          </a:p>
          <a:p>
            <a:r>
              <a:rPr lang="en-US" sz="2000">
                <a:solidFill>
                  <a:schemeClr val="bg1"/>
                </a:solidFill>
              </a:rPr>
              <a:t> Manually reading and categorizing each tweet is time-consuming </a:t>
            </a:r>
          </a:p>
          <a:p>
            <a:r>
              <a:rPr lang="en-US" sz="2000">
                <a:solidFill>
                  <a:schemeClr val="bg1"/>
                </a:solidFill>
              </a:rPr>
              <a:t>There is a need for an automated system to classify customer sentiment</a:t>
            </a:r>
          </a:p>
          <a:p>
            <a:pPr marL="0" indent="0">
              <a:buNone/>
            </a:pPr>
            <a:r>
              <a:rPr lang="en-US" sz="2000">
                <a:solidFill>
                  <a:schemeClr val="bg1"/>
                </a:solidFill>
              </a:rPr>
              <a:t>Goal: Build a machine learning model that automatically classifies tweets as Positive, Negative, or Neutral sentiment</a:t>
            </a:r>
          </a:p>
        </p:txBody>
      </p:sp>
    </p:spTree>
    <p:extLst>
      <p:ext uri="{BB962C8B-B14F-4D97-AF65-F5344CB8AC3E}">
        <p14:creationId xmlns:p14="http://schemas.microsoft.com/office/powerpoint/2010/main" val="36353778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9228552E-C8B1-4A80-8448-0787CE0FC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E18B6D-44A0-39DB-6127-E9252C0B80F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891" b="22859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12E40EA-A0E0-C283-4E9C-C5306CF6D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i="1">
                <a:solidFill>
                  <a:srgbClr val="FFFFFF"/>
                </a:solidFill>
              </a:rPr>
              <a:t>The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7897B-8C5D-DF80-6814-8424B237B2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 9,070 tweets about Apple and Google products</a:t>
            </a:r>
          </a:p>
          <a:p>
            <a:r>
              <a:rPr lang="en-US">
                <a:solidFill>
                  <a:srgbClr val="FFFFFF"/>
                </a:solidFill>
              </a:rPr>
              <a:t> Source: CrowdFlower via data.world</a:t>
            </a:r>
          </a:p>
          <a:p>
            <a:r>
              <a:rPr lang="en-US">
                <a:solidFill>
                  <a:srgbClr val="FFFFFF"/>
                </a:solidFill>
              </a:rPr>
              <a:t>4 sentiment categories:  </a:t>
            </a:r>
          </a:p>
          <a:p>
            <a:pPr marL="0" indent="0">
              <a:buNone/>
            </a:pPr>
            <a:r>
              <a:rPr lang="en-US">
                <a:solidFill>
                  <a:srgbClr val="FFFFFF"/>
                </a:solidFill>
              </a:rPr>
              <a:t>    - No emotion toward brand or product (5,375)  </a:t>
            </a:r>
          </a:p>
          <a:p>
            <a:pPr marL="0" indent="0">
              <a:buNone/>
            </a:pPr>
            <a:r>
              <a:rPr lang="en-US">
                <a:solidFill>
                  <a:srgbClr val="FFFFFF"/>
                </a:solidFill>
              </a:rPr>
              <a:t>    - Positive emotion (2,970)   </a:t>
            </a:r>
          </a:p>
          <a:p>
            <a:pPr marL="0" indent="0">
              <a:buNone/>
            </a:pPr>
            <a:r>
              <a:rPr lang="en-US">
                <a:solidFill>
                  <a:srgbClr val="FFFFFF"/>
                </a:solidFill>
              </a:rPr>
              <a:t>    - Negative emotion (569)  </a:t>
            </a:r>
          </a:p>
          <a:p>
            <a:pPr marL="0" indent="0">
              <a:buNone/>
            </a:pPr>
            <a:r>
              <a:rPr lang="en-US">
                <a:solidFill>
                  <a:srgbClr val="FFFFFF"/>
                </a:solidFill>
              </a:rPr>
              <a:t>    - I can't tell (156)</a:t>
            </a:r>
          </a:p>
          <a:p>
            <a:r>
              <a:rPr lang="en-US">
                <a:solidFill>
                  <a:srgbClr val="FFFFFF"/>
                </a:solidFill>
              </a:rPr>
              <a:t>Dataset showed significant class imbalance</a:t>
            </a:r>
          </a:p>
        </p:txBody>
      </p:sp>
    </p:spTree>
    <p:extLst>
      <p:ext uri="{BB962C8B-B14F-4D97-AF65-F5344CB8AC3E}">
        <p14:creationId xmlns:p14="http://schemas.microsoft.com/office/powerpoint/2010/main" val="21246157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228552E-C8B1-4A80-8448-0787CE0FC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EAE32C-ED16-4DFD-5E83-0BCF8F5FB31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891" b="22859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D61B7EE-D2E2-971A-53CF-668FB4029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i="1">
                <a:solidFill>
                  <a:srgbClr val="FFFFFF"/>
                </a:solidFill>
              </a:rPr>
              <a:t>Data Preparation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EF1D88-BCAF-A39A-C2E1-A9FDF7B88F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Removed 22 duplicate tweets</a:t>
            </a:r>
          </a:p>
          <a:p>
            <a:r>
              <a:rPr lang="en-US">
                <a:solidFill>
                  <a:srgbClr val="FFFFFF"/>
                </a:solidFill>
              </a:rPr>
              <a:t>Dropped 1 missing tweet</a:t>
            </a:r>
          </a:p>
          <a:p>
            <a:r>
              <a:rPr lang="en-US">
                <a:solidFill>
                  <a:srgbClr val="FFFFFF"/>
                </a:solidFill>
              </a:rPr>
              <a:t>Text cleaning: </a:t>
            </a:r>
          </a:p>
          <a:p>
            <a:pPr marL="0" indent="0">
              <a:buNone/>
            </a:pPr>
            <a:r>
              <a:rPr lang="en-US">
                <a:solidFill>
                  <a:srgbClr val="FFFFFF"/>
                </a:solidFill>
              </a:rPr>
              <a:t>  - Lowercased all text  </a:t>
            </a:r>
          </a:p>
          <a:p>
            <a:pPr marL="0" indent="0">
              <a:buNone/>
            </a:pPr>
            <a:r>
              <a:rPr lang="en-US">
                <a:solidFill>
                  <a:srgbClr val="FFFFFF"/>
                </a:solidFill>
              </a:rPr>
              <a:t>  - Removed URLs, mentions (@), punctuation  </a:t>
            </a:r>
          </a:p>
          <a:p>
            <a:pPr marL="0" indent="0">
              <a:buNone/>
            </a:pPr>
            <a:r>
              <a:rPr lang="en-US">
                <a:solidFill>
                  <a:srgbClr val="FFFFFF"/>
                </a:solidFill>
              </a:rPr>
              <a:t>  - Removed special characters</a:t>
            </a:r>
          </a:p>
          <a:p>
            <a:r>
              <a:rPr lang="en-US">
                <a:solidFill>
                  <a:srgbClr val="FFFFFF"/>
                </a:solidFill>
              </a:rPr>
              <a:t>Removed common English stopwords using NLTK</a:t>
            </a:r>
          </a:p>
          <a:p>
            <a:r>
              <a:rPr lang="en-US">
                <a:solidFill>
                  <a:srgbClr val="FFFFFF"/>
                </a:solidFill>
              </a:rPr>
              <a:t>Applied TF-IDF Vectorization (5,000 features)</a:t>
            </a:r>
          </a:p>
        </p:txBody>
      </p:sp>
    </p:spTree>
    <p:extLst>
      <p:ext uri="{BB962C8B-B14F-4D97-AF65-F5344CB8AC3E}">
        <p14:creationId xmlns:p14="http://schemas.microsoft.com/office/powerpoint/2010/main" val="1543196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9228552E-C8B1-4A80-8448-0787CE0FC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CCF89C-702A-A637-E182-339CCA06512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891" b="22859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E39F5C7-2DD5-65CB-33BB-B027022DE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i="1">
                <a:solidFill>
                  <a:srgbClr val="FFFFFF"/>
                </a:solidFill>
              </a:rPr>
              <a:t>Models Used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FF5DA9-2822-0A75-FD80-A69395755A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17826" cy="466725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</a:rPr>
              <a:t>Three machine learning models were trained and evaluated:</a:t>
            </a:r>
          </a:p>
          <a:p>
            <a:r>
              <a:rPr lang="en-US" sz="2000" dirty="0">
                <a:solidFill>
                  <a:srgbClr val="FFFFFF"/>
                </a:solidFill>
              </a:rPr>
              <a:t> Model 1: Multinomial Naive Bayes 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</a:rPr>
              <a:t>  - Simple probabilistic classifier 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</a:rPr>
              <a:t>  - Fast and effective for text data</a:t>
            </a:r>
          </a:p>
          <a:p>
            <a:pPr marL="0" indent="0">
              <a:buNone/>
            </a:pPr>
            <a:endParaRPr lang="en-US" sz="2000" dirty="0">
              <a:solidFill>
                <a:srgbClr val="FFFFFF"/>
              </a:solidFill>
            </a:endParaRPr>
          </a:p>
          <a:p>
            <a:r>
              <a:rPr lang="en-US" sz="2000" dirty="0">
                <a:solidFill>
                  <a:srgbClr val="FFFFFF"/>
                </a:solidFill>
              </a:rPr>
              <a:t>Model 2: Logistic Regression  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</a:rPr>
              <a:t>  - Linear classification model 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</a:rPr>
              <a:t>  - Strong performance on text features</a:t>
            </a:r>
          </a:p>
          <a:p>
            <a:pPr marL="0" indent="0">
              <a:buNone/>
            </a:pPr>
            <a:endParaRPr lang="en-US" sz="2000" dirty="0">
              <a:solidFill>
                <a:srgbClr val="FFFFFF"/>
              </a:solidFill>
            </a:endParaRPr>
          </a:p>
          <a:p>
            <a:r>
              <a:rPr lang="en-US" sz="2000" dirty="0">
                <a:solidFill>
                  <a:srgbClr val="FFFFFF"/>
                </a:solidFill>
              </a:rPr>
              <a:t> Model 3: Random Forest Classifier 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</a:rPr>
              <a:t>  - Ensemble of decision trees  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</a:rPr>
              <a:t>  - Handles complex patterns</a:t>
            </a:r>
          </a:p>
        </p:txBody>
      </p:sp>
    </p:spTree>
    <p:extLst>
      <p:ext uri="{BB962C8B-B14F-4D97-AF65-F5344CB8AC3E}">
        <p14:creationId xmlns:p14="http://schemas.microsoft.com/office/powerpoint/2010/main" val="2550339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397734-7D7B-A19A-910F-E0996A15F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5400" b="1" i="1" dirty="0">
                <a:solidFill>
                  <a:schemeClr val="bg1"/>
                </a:solidFill>
              </a:rPr>
              <a:t>Results</a:t>
            </a:r>
            <a:r>
              <a:rPr lang="en-US" sz="5400" b="1" i="1" dirty="0"/>
              <a:t> </a:t>
            </a:r>
          </a:p>
        </p:txBody>
      </p:sp>
      <p:sp>
        <p:nvSpPr>
          <p:cNvPr id="31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sX0" fmla="*/ 0 w 10972800"/>
              <a:gd name="csY0" fmla="*/ 0 h 18288"/>
              <a:gd name="csX1" fmla="*/ 356616 w 10972800"/>
              <a:gd name="csY1" fmla="*/ 0 h 18288"/>
              <a:gd name="csX2" fmla="*/ 1042416 w 10972800"/>
              <a:gd name="csY2" fmla="*/ 0 h 18288"/>
              <a:gd name="csX3" fmla="*/ 1947672 w 10972800"/>
              <a:gd name="csY3" fmla="*/ 0 h 18288"/>
              <a:gd name="csX4" fmla="*/ 2633472 w 10972800"/>
              <a:gd name="csY4" fmla="*/ 0 h 18288"/>
              <a:gd name="csX5" fmla="*/ 2990088 w 10972800"/>
              <a:gd name="csY5" fmla="*/ 0 h 18288"/>
              <a:gd name="csX6" fmla="*/ 3456432 w 10972800"/>
              <a:gd name="csY6" fmla="*/ 0 h 18288"/>
              <a:gd name="csX7" fmla="*/ 4361688 w 10972800"/>
              <a:gd name="csY7" fmla="*/ 0 h 18288"/>
              <a:gd name="csX8" fmla="*/ 5266944 w 10972800"/>
              <a:gd name="csY8" fmla="*/ 0 h 18288"/>
              <a:gd name="csX9" fmla="*/ 6172200 w 10972800"/>
              <a:gd name="csY9" fmla="*/ 0 h 18288"/>
              <a:gd name="csX10" fmla="*/ 6528816 w 10972800"/>
              <a:gd name="csY10" fmla="*/ 0 h 18288"/>
              <a:gd name="csX11" fmla="*/ 7214616 w 10972800"/>
              <a:gd name="csY11" fmla="*/ 0 h 18288"/>
              <a:gd name="csX12" fmla="*/ 7790688 w 10972800"/>
              <a:gd name="csY12" fmla="*/ 0 h 18288"/>
              <a:gd name="csX13" fmla="*/ 8147304 w 10972800"/>
              <a:gd name="csY13" fmla="*/ 0 h 18288"/>
              <a:gd name="csX14" fmla="*/ 9052560 w 10972800"/>
              <a:gd name="csY14" fmla="*/ 0 h 18288"/>
              <a:gd name="csX15" fmla="*/ 9409176 w 10972800"/>
              <a:gd name="csY15" fmla="*/ 0 h 18288"/>
              <a:gd name="csX16" fmla="*/ 9765792 w 10972800"/>
              <a:gd name="csY16" fmla="*/ 0 h 18288"/>
              <a:gd name="csX17" fmla="*/ 10341864 w 10972800"/>
              <a:gd name="csY17" fmla="*/ 0 h 18288"/>
              <a:gd name="csX18" fmla="*/ 10972800 w 10972800"/>
              <a:gd name="csY18" fmla="*/ 0 h 18288"/>
              <a:gd name="csX19" fmla="*/ 10972800 w 10972800"/>
              <a:gd name="csY19" fmla="*/ 18288 h 18288"/>
              <a:gd name="csX20" fmla="*/ 10177272 w 10972800"/>
              <a:gd name="csY20" fmla="*/ 18288 h 18288"/>
              <a:gd name="csX21" fmla="*/ 9820656 w 10972800"/>
              <a:gd name="csY21" fmla="*/ 18288 h 18288"/>
              <a:gd name="csX22" fmla="*/ 9464040 w 10972800"/>
              <a:gd name="csY22" fmla="*/ 18288 h 18288"/>
              <a:gd name="csX23" fmla="*/ 8778240 w 10972800"/>
              <a:gd name="csY23" fmla="*/ 18288 h 18288"/>
              <a:gd name="csX24" fmla="*/ 8421624 w 10972800"/>
              <a:gd name="csY24" fmla="*/ 18288 h 18288"/>
              <a:gd name="csX25" fmla="*/ 7735824 w 10972800"/>
              <a:gd name="csY25" fmla="*/ 18288 h 18288"/>
              <a:gd name="csX26" fmla="*/ 6940296 w 10972800"/>
              <a:gd name="csY26" fmla="*/ 18288 h 18288"/>
              <a:gd name="csX27" fmla="*/ 6254496 w 10972800"/>
              <a:gd name="csY27" fmla="*/ 18288 h 18288"/>
              <a:gd name="csX28" fmla="*/ 5458968 w 10972800"/>
              <a:gd name="csY28" fmla="*/ 18288 h 18288"/>
              <a:gd name="csX29" fmla="*/ 4663440 w 10972800"/>
              <a:gd name="csY29" fmla="*/ 18288 h 18288"/>
              <a:gd name="csX30" fmla="*/ 4306824 w 10972800"/>
              <a:gd name="csY30" fmla="*/ 18288 h 18288"/>
              <a:gd name="csX31" fmla="*/ 3840480 w 10972800"/>
              <a:gd name="csY31" fmla="*/ 18288 h 18288"/>
              <a:gd name="csX32" fmla="*/ 3264408 w 10972800"/>
              <a:gd name="csY32" fmla="*/ 18288 h 18288"/>
              <a:gd name="csX33" fmla="*/ 2578608 w 10972800"/>
              <a:gd name="csY33" fmla="*/ 18288 h 18288"/>
              <a:gd name="csX34" fmla="*/ 1673352 w 10972800"/>
              <a:gd name="csY34" fmla="*/ 18288 h 18288"/>
              <a:gd name="csX35" fmla="*/ 877824 w 10972800"/>
              <a:gd name="csY35" fmla="*/ 18288 h 18288"/>
              <a:gd name="csX36" fmla="*/ 0 w 10972800"/>
              <a:gd name="csY36" fmla="*/ 18288 h 18288"/>
              <a:gd name="csX37" fmla="*/ 0 w 10972800"/>
              <a:gd name="csY37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DA4AD8-17F4-D33B-5D75-8BA6E8F62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493" y="2071316"/>
            <a:ext cx="6713552" cy="4119172"/>
          </a:xfrm>
        </p:spPr>
        <p:txBody>
          <a:bodyPr anchor="t">
            <a:norm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 Logistic Regression achieved the best overall performance</a:t>
            </a:r>
          </a:p>
          <a:p>
            <a:r>
              <a:rPr lang="en-US" sz="2000" dirty="0">
                <a:solidFill>
                  <a:schemeClr val="bg1"/>
                </a:solidFill>
              </a:rPr>
              <a:t> All models struggled with minority classes due to class imbalance</a:t>
            </a:r>
          </a:p>
          <a:p>
            <a:pPr marL="0" indent="0">
              <a:buNone/>
            </a:pPr>
            <a:endParaRPr lang="en-US" sz="20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2000" dirty="0">
                <a:solidFill>
                  <a:schemeClr val="bg1"/>
                </a:solidFill>
              </a:rPr>
              <a:t>Model Comparison:</a:t>
            </a:r>
          </a:p>
          <a:p>
            <a:pPr marL="0" indent="0">
              <a:buNone/>
            </a:pPr>
            <a:endParaRPr lang="en-US" sz="20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2000" dirty="0">
                <a:solidFill>
                  <a:schemeClr val="bg1"/>
                </a:solidFill>
              </a:rPr>
              <a:t>Model                  | Accuracy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bg1"/>
                </a:solidFill>
              </a:rPr>
              <a:t>Naive Bayes            | [67.8%]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bg1"/>
                </a:solidFill>
              </a:rPr>
              <a:t>Logistic Regression    | [69.3%]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bg1"/>
                </a:solidFill>
              </a:rPr>
              <a:t>Random Forest          | [67.5%]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FC95F8-6FB2-115A-B49C-2ACBC65E5D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7" r="2117" b="-12"/>
          <a:stretch>
            <a:fillRect/>
          </a:stretch>
        </p:blipFill>
        <p:spPr>
          <a:xfrm>
            <a:off x="7675658" y="2093976"/>
            <a:ext cx="3941064" cy="4096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8523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4B05A2-400B-C18F-5AC7-B89F5516E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5400" b="1" i="1" dirty="0">
                <a:solidFill>
                  <a:schemeClr val="bg1"/>
                </a:solidFill>
              </a:rPr>
              <a:t>Conclusions</a:t>
            </a:r>
          </a:p>
        </p:txBody>
      </p:sp>
      <p:sp>
        <p:nvSpPr>
          <p:cNvPr id="21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sX0" fmla="*/ 0 w 10972800"/>
              <a:gd name="csY0" fmla="*/ 0 h 18288"/>
              <a:gd name="csX1" fmla="*/ 356616 w 10972800"/>
              <a:gd name="csY1" fmla="*/ 0 h 18288"/>
              <a:gd name="csX2" fmla="*/ 1042416 w 10972800"/>
              <a:gd name="csY2" fmla="*/ 0 h 18288"/>
              <a:gd name="csX3" fmla="*/ 1947672 w 10972800"/>
              <a:gd name="csY3" fmla="*/ 0 h 18288"/>
              <a:gd name="csX4" fmla="*/ 2633472 w 10972800"/>
              <a:gd name="csY4" fmla="*/ 0 h 18288"/>
              <a:gd name="csX5" fmla="*/ 2990088 w 10972800"/>
              <a:gd name="csY5" fmla="*/ 0 h 18288"/>
              <a:gd name="csX6" fmla="*/ 3456432 w 10972800"/>
              <a:gd name="csY6" fmla="*/ 0 h 18288"/>
              <a:gd name="csX7" fmla="*/ 4361688 w 10972800"/>
              <a:gd name="csY7" fmla="*/ 0 h 18288"/>
              <a:gd name="csX8" fmla="*/ 5266944 w 10972800"/>
              <a:gd name="csY8" fmla="*/ 0 h 18288"/>
              <a:gd name="csX9" fmla="*/ 6172200 w 10972800"/>
              <a:gd name="csY9" fmla="*/ 0 h 18288"/>
              <a:gd name="csX10" fmla="*/ 6528816 w 10972800"/>
              <a:gd name="csY10" fmla="*/ 0 h 18288"/>
              <a:gd name="csX11" fmla="*/ 7214616 w 10972800"/>
              <a:gd name="csY11" fmla="*/ 0 h 18288"/>
              <a:gd name="csX12" fmla="*/ 7790688 w 10972800"/>
              <a:gd name="csY12" fmla="*/ 0 h 18288"/>
              <a:gd name="csX13" fmla="*/ 8147304 w 10972800"/>
              <a:gd name="csY13" fmla="*/ 0 h 18288"/>
              <a:gd name="csX14" fmla="*/ 9052560 w 10972800"/>
              <a:gd name="csY14" fmla="*/ 0 h 18288"/>
              <a:gd name="csX15" fmla="*/ 9409176 w 10972800"/>
              <a:gd name="csY15" fmla="*/ 0 h 18288"/>
              <a:gd name="csX16" fmla="*/ 9765792 w 10972800"/>
              <a:gd name="csY16" fmla="*/ 0 h 18288"/>
              <a:gd name="csX17" fmla="*/ 10341864 w 10972800"/>
              <a:gd name="csY17" fmla="*/ 0 h 18288"/>
              <a:gd name="csX18" fmla="*/ 10972800 w 10972800"/>
              <a:gd name="csY18" fmla="*/ 0 h 18288"/>
              <a:gd name="csX19" fmla="*/ 10972800 w 10972800"/>
              <a:gd name="csY19" fmla="*/ 18288 h 18288"/>
              <a:gd name="csX20" fmla="*/ 10177272 w 10972800"/>
              <a:gd name="csY20" fmla="*/ 18288 h 18288"/>
              <a:gd name="csX21" fmla="*/ 9820656 w 10972800"/>
              <a:gd name="csY21" fmla="*/ 18288 h 18288"/>
              <a:gd name="csX22" fmla="*/ 9464040 w 10972800"/>
              <a:gd name="csY22" fmla="*/ 18288 h 18288"/>
              <a:gd name="csX23" fmla="*/ 8778240 w 10972800"/>
              <a:gd name="csY23" fmla="*/ 18288 h 18288"/>
              <a:gd name="csX24" fmla="*/ 8421624 w 10972800"/>
              <a:gd name="csY24" fmla="*/ 18288 h 18288"/>
              <a:gd name="csX25" fmla="*/ 7735824 w 10972800"/>
              <a:gd name="csY25" fmla="*/ 18288 h 18288"/>
              <a:gd name="csX26" fmla="*/ 6940296 w 10972800"/>
              <a:gd name="csY26" fmla="*/ 18288 h 18288"/>
              <a:gd name="csX27" fmla="*/ 6254496 w 10972800"/>
              <a:gd name="csY27" fmla="*/ 18288 h 18288"/>
              <a:gd name="csX28" fmla="*/ 5458968 w 10972800"/>
              <a:gd name="csY28" fmla="*/ 18288 h 18288"/>
              <a:gd name="csX29" fmla="*/ 4663440 w 10972800"/>
              <a:gd name="csY29" fmla="*/ 18288 h 18288"/>
              <a:gd name="csX30" fmla="*/ 4306824 w 10972800"/>
              <a:gd name="csY30" fmla="*/ 18288 h 18288"/>
              <a:gd name="csX31" fmla="*/ 3840480 w 10972800"/>
              <a:gd name="csY31" fmla="*/ 18288 h 18288"/>
              <a:gd name="csX32" fmla="*/ 3264408 w 10972800"/>
              <a:gd name="csY32" fmla="*/ 18288 h 18288"/>
              <a:gd name="csX33" fmla="*/ 2578608 w 10972800"/>
              <a:gd name="csY33" fmla="*/ 18288 h 18288"/>
              <a:gd name="csX34" fmla="*/ 1673352 w 10972800"/>
              <a:gd name="csY34" fmla="*/ 18288 h 18288"/>
              <a:gd name="csX35" fmla="*/ 877824 w 10972800"/>
              <a:gd name="csY35" fmla="*/ 18288 h 18288"/>
              <a:gd name="csX36" fmla="*/ 0 w 10972800"/>
              <a:gd name="csY36" fmla="*/ 18288 h 18288"/>
              <a:gd name="csX37" fmla="*/ 0 w 10972800"/>
              <a:gd name="csY37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0E5F63-31CE-CF7D-1B13-2CA4E80878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493" y="2071316"/>
            <a:ext cx="6713552" cy="4119172"/>
          </a:xfrm>
        </p:spPr>
        <p:txBody>
          <a:bodyPr anchor="t">
            <a:normAutofit/>
          </a:bodyPr>
          <a:lstStyle/>
          <a:p>
            <a:r>
              <a:rPr lang="en-US" sz="2200" dirty="0">
                <a:solidFill>
                  <a:schemeClr val="bg1"/>
                </a:solidFill>
              </a:rPr>
              <a:t>Three NLP models were successfully built and evaluated</a:t>
            </a:r>
          </a:p>
          <a:p>
            <a:r>
              <a:rPr lang="en-US" sz="2200" dirty="0">
                <a:solidFill>
                  <a:schemeClr val="bg1"/>
                </a:solidFill>
              </a:rPr>
              <a:t>Logistic Regression performed best with 69.3% accuracy</a:t>
            </a:r>
          </a:p>
          <a:p>
            <a:r>
              <a:rPr lang="en-US" sz="2200" dirty="0">
                <a:solidFill>
                  <a:schemeClr val="bg1"/>
                </a:solidFill>
              </a:rPr>
              <a:t> All models showed bias toward the majority class due to class imbalance</a:t>
            </a:r>
          </a:p>
          <a:p>
            <a:r>
              <a:rPr lang="en-US" sz="2200" dirty="0">
                <a:solidFill>
                  <a:schemeClr val="bg1"/>
                </a:solidFill>
              </a:rPr>
              <a:t> NLP-based sentiment analysis is an effective tool for automated social media monitoring at scale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0906C4-BD1C-1CF3-3A12-5D2AD3A7AB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7" r="2117" b="-12"/>
          <a:stretch>
            <a:fillRect/>
          </a:stretch>
        </p:blipFill>
        <p:spPr>
          <a:xfrm>
            <a:off x="7675658" y="2093976"/>
            <a:ext cx="3941064" cy="4096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47392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E7BFEA-276F-BA7F-3FE6-2ACE58BED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5400" b="1" i="1" dirty="0">
                <a:solidFill>
                  <a:schemeClr val="bg1"/>
                </a:solidFill>
              </a:rPr>
              <a:t>Recommendations</a:t>
            </a:r>
          </a:p>
        </p:txBody>
      </p:sp>
      <p:sp>
        <p:nvSpPr>
          <p:cNvPr id="15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sX0" fmla="*/ 0 w 10972800"/>
              <a:gd name="csY0" fmla="*/ 0 h 18288"/>
              <a:gd name="csX1" fmla="*/ 356616 w 10972800"/>
              <a:gd name="csY1" fmla="*/ 0 h 18288"/>
              <a:gd name="csX2" fmla="*/ 1042416 w 10972800"/>
              <a:gd name="csY2" fmla="*/ 0 h 18288"/>
              <a:gd name="csX3" fmla="*/ 1947672 w 10972800"/>
              <a:gd name="csY3" fmla="*/ 0 h 18288"/>
              <a:gd name="csX4" fmla="*/ 2633472 w 10972800"/>
              <a:gd name="csY4" fmla="*/ 0 h 18288"/>
              <a:gd name="csX5" fmla="*/ 2990088 w 10972800"/>
              <a:gd name="csY5" fmla="*/ 0 h 18288"/>
              <a:gd name="csX6" fmla="*/ 3456432 w 10972800"/>
              <a:gd name="csY6" fmla="*/ 0 h 18288"/>
              <a:gd name="csX7" fmla="*/ 4361688 w 10972800"/>
              <a:gd name="csY7" fmla="*/ 0 h 18288"/>
              <a:gd name="csX8" fmla="*/ 5266944 w 10972800"/>
              <a:gd name="csY8" fmla="*/ 0 h 18288"/>
              <a:gd name="csX9" fmla="*/ 6172200 w 10972800"/>
              <a:gd name="csY9" fmla="*/ 0 h 18288"/>
              <a:gd name="csX10" fmla="*/ 6528816 w 10972800"/>
              <a:gd name="csY10" fmla="*/ 0 h 18288"/>
              <a:gd name="csX11" fmla="*/ 7214616 w 10972800"/>
              <a:gd name="csY11" fmla="*/ 0 h 18288"/>
              <a:gd name="csX12" fmla="*/ 7790688 w 10972800"/>
              <a:gd name="csY12" fmla="*/ 0 h 18288"/>
              <a:gd name="csX13" fmla="*/ 8147304 w 10972800"/>
              <a:gd name="csY13" fmla="*/ 0 h 18288"/>
              <a:gd name="csX14" fmla="*/ 9052560 w 10972800"/>
              <a:gd name="csY14" fmla="*/ 0 h 18288"/>
              <a:gd name="csX15" fmla="*/ 9409176 w 10972800"/>
              <a:gd name="csY15" fmla="*/ 0 h 18288"/>
              <a:gd name="csX16" fmla="*/ 9765792 w 10972800"/>
              <a:gd name="csY16" fmla="*/ 0 h 18288"/>
              <a:gd name="csX17" fmla="*/ 10341864 w 10972800"/>
              <a:gd name="csY17" fmla="*/ 0 h 18288"/>
              <a:gd name="csX18" fmla="*/ 10972800 w 10972800"/>
              <a:gd name="csY18" fmla="*/ 0 h 18288"/>
              <a:gd name="csX19" fmla="*/ 10972800 w 10972800"/>
              <a:gd name="csY19" fmla="*/ 18288 h 18288"/>
              <a:gd name="csX20" fmla="*/ 10177272 w 10972800"/>
              <a:gd name="csY20" fmla="*/ 18288 h 18288"/>
              <a:gd name="csX21" fmla="*/ 9820656 w 10972800"/>
              <a:gd name="csY21" fmla="*/ 18288 h 18288"/>
              <a:gd name="csX22" fmla="*/ 9464040 w 10972800"/>
              <a:gd name="csY22" fmla="*/ 18288 h 18288"/>
              <a:gd name="csX23" fmla="*/ 8778240 w 10972800"/>
              <a:gd name="csY23" fmla="*/ 18288 h 18288"/>
              <a:gd name="csX24" fmla="*/ 8421624 w 10972800"/>
              <a:gd name="csY24" fmla="*/ 18288 h 18288"/>
              <a:gd name="csX25" fmla="*/ 7735824 w 10972800"/>
              <a:gd name="csY25" fmla="*/ 18288 h 18288"/>
              <a:gd name="csX26" fmla="*/ 6940296 w 10972800"/>
              <a:gd name="csY26" fmla="*/ 18288 h 18288"/>
              <a:gd name="csX27" fmla="*/ 6254496 w 10972800"/>
              <a:gd name="csY27" fmla="*/ 18288 h 18288"/>
              <a:gd name="csX28" fmla="*/ 5458968 w 10972800"/>
              <a:gd name="csY28" fmla="*/ 18288 h 18288"/>
              <a:gd name="csX29" fmla="*/ 4663440 w 10972800"/>
              <a:gd name="csY29" fmla="*/ 18288 h 18288"/>
              <a:gd name="csX30" fmla="*/ 4306824 w 10972800"/>
              <a:gd name="csY30" fmla="*/ 18288 h 18288"/>
              <a:gd name="csX31" fmla="*/ 3840480 w 10972800"/>
              <a:gd name="csY31" fmla="*/ 18288 h 18288"/>
              <a:gd name="csX32" fmla="*/ 3264408 w 10972800"/>
              <a:gd name="csY32" fmla="*/ 18288 h 18288"/>
              <a:gd name="csX33" fmla="*/ 2578608 w 10972800"/>
              <a:gd name="csY33" fmla="*/ 18288 h 18288"/>
              <a:gd name="csX34" fmla="*/ 1673352 w 10972800"/>
              <a:gd name="csY34" fmla="*/ 18288 h 18288"/>
              <a:gd name="csX35" fmla="*/ 877824 w 10972800"/>
              <a:gd name="csY35" fmla="*/ 18288 h 18288"/>
              <a:gd name="csX36" fmla="*/ 0 w 10972800"/>
              <a:gd name="csY36" fmla="*/ 18288 h 18288"/>
              <a:gd name="csX37" fmla="*/ 0 w 10972800"/>
              <a:gd name="csY37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2E411-9D37-B148-AD20-E49528DBF3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493" y="2071316"/>
            <a:ext cx="6713552" cy="4119172"/>
          </a:xfrm>
        </p:spPr>
        <p:txBody>
          <a:bodyPr anchor="t">
            <a:normAutofit/>
          </a:bodyPr>
          <a:lstStyle/>
          <a:p>
            <a:r>
              <a:rPr lang="en-US" sz="2200" dirty="0">
                <a:solidFill>
                  <a:schemeClr val="bg1"/>
                </a:solidFill>
              </a:rPr>
              <a:t> Use Logistic Regression as the primary sentiment classification model due to its superior performance</a:t>
            </a:r>
          </a:p>
          <a:p>
            <a:r>
              <a:rPr lang="en-US" sz="2200" dirty="0">
                <a:solidFill>
                  <a:schemeClr val="bg1"/>
                </a:solidFill>
              </a:rPr>
              <a:t> Monitor customer sentiment toward Apple and Google products to identify emerging trends</a:t>
            </a:r>
          </a:p>
          <a:p>
            <a:r>
              <a:rPr lang="en-US" sz="2200" dirty="0">
                <a:solidFill>
                  <a:schemeClr val="bg1"/>
                </a:solidFill>
              </a:rPr>
              <a:t> Investigate negative sentiment tweets to better understand customer concerns and areas for improvement</a:t>
            </a:r>
          </a:p>
          <a:p>
            <a:r>
              <a:rPr lang="en-US" sz="2200" dirty="0">
                <a:solidFill>
                  <a:schemeClr val="bg1"/>
                </a:solidFill>
              </a:rPr>
              <a:t> Use sentiment analysis as a decision-support tool for marketing and product teams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FFD587-43BB-3592-044B-2AA4544916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7" r="2117" b="-12"/>
          <a:stretch>
            <a:fillRect/>
          </a:stretch>
        </p:blipFill>
        <p:spPr>
          <a:xfrm>
            <a:off x="7675658" y="2093976"/>
            <a:ext cx="3941064" cy="4096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7798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381</Words>
  <Application>Microsoft Office PowerPoint</Application>
  <PresentationFormat>Widescreen</PresentationFormat>
  <Paragraphs>59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Twitter Sentiment Analysis on Apple and Google Products</vt:lpstr>
      <vt:lpstr>Business Problem</vt:lpstr>
      <vt:lpstr>The Data</vt:lpstr>
      <vt:lpstr>Data Preparation</vt:lpstr>
      <vt:lpstr>Models Used</vt:lpstr>
      <vt:lpstr>Results </vt:lpstr>
      <vt:lpstr>Conclusions</vt:lpstr>
      <vt:lpstr>Recommendations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Keith Njihia</dc:creator>
  <cp:lastModifiedBy>Keith Njihia</cp:lastModifiedBy>
  <cp:revision>2</cp:revision>
  <dcterms:created xsi:type="dcterms:W3CDTF">2026-06-11T20:10:09Z</dcterms:created>
  <dcterms:modified xsi:type="dcterms:W3CDTF">2026-06-11T21:38:35Z</dcterms:modified>
</cp:coreProperties>
</file>